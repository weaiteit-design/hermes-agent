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c_d37e65ca46e5_4._EW_E&amp;W_B1T1_RM_A2.pdf_p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"/>
            <a:ext cx="5120640" cy="28472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1C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0" y="10972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C5C4C"/>
                </a:solidFill>
              </a:defRPr>
            </a:pPr>
            <a:r>
              <a:t>AI Readiness for Trades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E6E6E"/>
                </a:solidFill>
              </a:defRPr>
            </a:pPr>
            <a:r>
              <a:t>© Tata Community Initiatives Trust, 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100">
                <a:solidFill>
                  <a:srgbClr val="232D2A"/>
                </a:solidFill>
              </a:defRPr>
            </a:pPr>
            <a:r>
              <a:t>B2T1 - Navigating the Digital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508760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5C4C"/>
                </a:solidFill>
              </a:defRPr>
            </a:pPr>
            <a:r>
              <a:t>Mechanic Diesel and Mechanic Motor Vehicle | 50 minutes</a:t>
            </a:r>
          </a:p>
        </p:txBody>
      </p:sp>
      <p:pic>
        <p:nvPicPr>
          <p:cNvPr id="9" name="Picture 8" descr="job_card_worksh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143000"/>
            <a:ext cx="4617720" cy="2514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2148840"/>
            <a:ext cx="58064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 wrap="square"/>
          <a:lstStyle/>
          <a:p>
            <a:pPr algn="ctr"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Read digital workshop information carefully</a:t>
            </a:r>
          </a:p>
          <a:p>
            <a:pPr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Organise records clearly</a:t>
            </a:r>
          </a:p>
          <a:p>
            <a:pPr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Verify before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3886200"/>
            <a:ext cx="4617720" cy="1051560"/>
          </a:xfrm>
          <a:prstGeom prst="roundRect">
            <a:avLst/>
          </a:prstGeom>
          <a:solidFill>
            <a:srgbClr val="FFF5E4"/>
          </a:solidFill>
          <a:ln>
            <a:solidFill>
              <a:srgbClr val="F4A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18872" wrap="square"/>
          <a:lstStyle/>
          <a:p>
            <a:pPr>
              <a:defRPr b="1" sz="1500">
                <a:solidFill>
                  <a:srgbClr val="1C5C4C"/>
                </a:solidFill>
              </a:defRPr>
            </a:pPr>
            <a:r>
              <a:t>Workshop connection</a:t>
            </a:r>
          </a:p>
          <a:p>
            <a:pPr>
              <a:defRPr sz="1200">
                <a:solidFill>
                  <a:srgbClr val="373732"/>
                </a:solidFill>
              </a:defRPr>
            </a:pPr>
            <a:r>
              <a:t>Use digital information with hands-on inspection, safety rules, and senior guidance.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c_d37e65ca46e5_4._EW_E&amp;W_B1T1_RM_A2.pdf_p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"/>
            <a:ext cx="5120640" cy="28472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1C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0" y="10972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C5C4C"/>
                </a:solidFill>
              </a:defRPr>
            </a:pPr>
            <a:r>
              <a:t>AI Readiness for Trades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E6E6E"/>
                </a:solidFill>
              </a:defRPr>
            </a:pPr>
            <a:r>
              <a:t>© Tata Community Initiatives Trust, 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100">
                <a:solidFill>
                  <a:srgbClr val="232D2A"/>
                </a:solidFill>
              </a:defRPr>
            </a:pPr>
            <a:r>
              <a:t>What is a digital workspace?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508760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5C4C"/>
                </a:solidFill>
              </a:defRPr>
            </a:pPr>
            <a:r>
              <a:t>It is the place where workshop information is read, updated, stored, and shared.</a:t>
            </a:r>
          </a:p>
        </p:txBody>
      </p:sp>
      <p:pic>
        <p:nvPicPr>
          <p:cNvPr id="9" name="Picture 8" descr="job_card_worksh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143000"/>
            <a:ext cx="4617720" cy="2514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2148840"/>
            <a:ext cx="58064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 wrap="square"/>
          <a:lstStyle/>
          <a:p>
            <a:pPr algn="ctr"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Digital job card</a:t>
            </a:r>
          </a:p>
          <a:p>
            <a:pPr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Service history</a:t>
            </a:r>
          </a:p>
          <a:p>
            <a:pPr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Diagnostic scan report</a:t>
            </a:r>
          </a:p>
          <a:p>
            <a:pPr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Checklist and parts record</a:t>
            </a:r>
          </a:p>
          <a:p>
            <a:pPr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Photos and safety instructions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3886200"/>
            <a:ext cx="4617720" cy="1051560"/>
          </a:xfrm>
          <a:prstGeom prst="roundRect">
            <a:avLst/>
          </a:prstGeom>
          <a:solidFill>
            <a:srgbClr val="FFF5E4"/>
          </a:solidFill>
          <a:ln>
            <a:solidFill>
              <a:srgbClr val="F4A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18872" wrap="square"/>
          <a:lstStyle/>
          <a:p>
            <a:pPr>
              <a:defRPr b="1" sz="1500">
                <a:solidFill>
                  <a:srgbClr val="1C5C4C"/>
                </a:solidFill>
              </a:defRPr>
            </a:pPr>
            <a:r>
              <a:t>Workshop connection</a:t>
            </a:r>
          </a:p>
          <a:p>
            <a:pPr>
              <a:defRPr sz="1200">
                <a:solidFill>
                  <a:srgbClr val="373732"/>
                </a:solidFill>
              </a:defRPr>
            </a:pPr>
            <a:r>
              <a:t>Use digital information with hands-on inspection, safety rules, and senior guidance.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c_d37e65ca46e5_4._EW_E&amp;W_B1T1_RM_A2.pdf_p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"/>
            <a:ext cx="5120640" cy="28472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1C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0" y="10972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C5C4C"/>
                </a:solidFill>
              </a:defRPr>
            </a:pPr>
            <a:r>
              <a:t>AI Readiness for Trades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E6E6E"/>
                </a:solidFill>
              </a:defRPr>
            </a:pPr>
            <a:r>
              <a:t>© Tata Community Initiatives Trust, 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100">
                <a:solidFill>
                  <a:srgbClr val="232D2A"/>
                </a:solidFill>
              </a:defRPr>
            </a:pPr>
            <a:r>
              <a:t>Use Case 1: Digital Job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508760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5C4C"/>
                </a:solidFill>
              </a:defRPr>
            </a:pPr>
            <a:r>
              <a:t>A learner receives a job card before starting inspection.</a:t>
            </a:r>
          </a:p>
        </p:txBody>
      </p:sp>
      <p:pic>
        <p:nvPicPr>
          <p:cNvPr id="9" name="Picture 8" descr="job_card_worksh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143000"/>
            <a:ext cx="4617720" cy="2514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2148840"/>
            <a:ext cx="58064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 wrap="square"/>
          <a:lstStyle/>
          <a:p>
            <a:pPr algn="ctr"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Read the customer complaint fully</a:t>
            </a:r>
          </a:p>
          <a:p>
            <a:pPr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Check last service and pending work</a:t>
            </a:r>
          </a:p>
          <a:p>
            <a:pPr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Update only true observations</a:t>
            </a:r>
          </a:p>
          <a:p>
            <a:pPr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Ask senior before major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3886200"/>
            <a:ext cx="4617720" cy="1051560"/>
          </a:xfrm>
          <a:prstGeom prst="roundRect">
            <a:avLst/>
          </a:prstGeom>
          <a:solidFill>
            <a:srgbClr val="FFF5E4"/>
          </a:solidFill>
          <a:ln>
            <a:solidFill>
              <a:srgbClr val="F4A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18872" wrap="square"/>
          <a:lstStyle/>
          <a:p>
            <a:pPr>
              <a:defRPr b="1" sz="1500">
                <a:solidFill>
                  <a:srgbClr val="1C5C4C"/>
                </a:solidFill>
              </a:defRPr>
            </a:pPr>
            <a:r>
              <a:t>Workshop connection</a:t>
            </a:r>
          </a:p>
          <a:p>
            <a:pPr>
              <a:defRPr sz="1200">
                <a:solidFill>
                  <a:srgbClr val="373732"/>
                </a:solidFill>
              </a:defRPr>
            </a:pPr>
            <a:r>
              <a:t>Use digital information with hands-on inspection, safety rules, and senior guidance.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c_d37e65ca46e5_4._EW_E&amp;W_B1T1_RM_A2.pdf_p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"/>
            <a:ext cx="5120640" cy="28472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1C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0" y="10972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C5C4C"/>
                </a:solidFill>
              </a:defRPr>
            </a:pPr>
            <a:r>
              <a:t>AI Readiness for Trades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E6E6E"/>
                </a:solidFill>
              </a:defRPr>
            </a:pPr>
            <a:r>
              <a:t>© Tata Community Initiatives Trust, 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100">
                <a:solidFill>
                  <a:srgbClr val="232D2A"/>
                </a:solidFill>
              </a:defRPr>
            </a:pPr>
            <a:r>
              <a:t>Use Case 2: Diagnostic Scan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508760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5C4C"/>
                </a:solidFill>
              </a:defRPr>
            </a:pPr>
            <a:r>
              <a:t>A scan message is a clue, not the final repair decision.</a:t>
            </a:r>
          </a:p>
        </p:txBody>
      </p:sp>
      <p:pic>
        <p:nvPicPr>
          <p:cNvPr id="9" name="Picture 8" descr="diagnostic_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143000"/>
            <a:ext cx="4617720" cy="2514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2148840"/>
            <a:ext cx="58064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 wrap="square"/>
          <a:lstStyle/>
          <a:p>
            <a:pPr algn="ctr"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Save or note the report</a:t>
            </a:r>
          </a:p>
          <a:p>
            <a:pPr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Check wiring, connector, fuse, and fitting</a:t>
            </a:r>
          </a:p>
          <a:p>
            <a:pPr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Use measuring tools and visual inspection</a:t>
            </a:r>
          </a:p>
          <a:p>
            <a:pPr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Discuss before replacing parts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3886200"/>
            <a:ext cx="4617720" cy="1051560"/>
          </a:xfrm>
          <a:prstGeom prst="roundRect">
            <a:avLst/>
          </a:prstGeom>
          <a:solidFill>
            <a:srgbClr val="FFF5E4"/>
          </a:solidFill>
          <a:ln>
            <a:solidFill>
              <a:srgbClr val="F4A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18872" wrap="square"/>
          <a:lstStyle/>
          <a:p>
            <a:pPr>
              <a:defRPr b="1" sz="1500">
                <a:solidFill>
                  <a:srgbClr val="1C5C4C"/>
                </a:solidFill>
              </a:defRPr>
            </a:pPr>
            <a:r>
              <a:t>Workshop connection</a:t>
            </a:r>
          </a:p>
          <a:p>
            <a:pPr>
              <a:defRPr sz="1200">
                <a:solidFill>
                  <a:srgbClr val="373732"/>
                </a:solidFill>
              </a:defRPr>
            </a:pPr>
            <a:r>
              <a:t>Use digital information with hands-on inspection, safety rules, and senior guidance.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c_d37e65ca46e5_4._EW_E&amp;W_B1T1_RM_A2.pdf_p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"/>
            <a:ext cx="5120640" cy="28472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1C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0" y="10972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C5C4C"/>
                </a:solidFill>
              </a:defRPr>
            </a:pPr>
            <a:r>
              <a:t>AI Readiness for Trades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E6E6E"/>
                </a:solidFill>
              </a:defRPr>
            </a:pPr>
            <a:r>
              <a:t>© Tata Community Initiatives Trust, 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100">
                <a:solidFill>
                  <a:srgbClr val="232D2A"/>
                </a:solidFill>
              </a:defRPr>
            </a:pPr>
            <a:r>
              <a:t>Use Case 3: Parts and Service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508760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5C4C"/>
                </a:solidFill>
              </a:defRPr>
            </a:pPr>
            <a:r>
              <a:t>Good records reduce wrong parts and repeat work.</a:t>
            </a:r>
          </a:p>
        </p:txBody>
      </p:sp>
      <p:pic>
        <p:nvPicPr>
          <p:cNvPr id="9" name="Picture 8" descr="parts_rec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143000"/>
            <a:ext cx="4617720" cy="2514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2148840"/>
            <a:ext cx="58064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 wrap="square"/>
          <a:lstStyle/>
          <a:p>
            <a:pPr algn="ctr"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Search by job number and date</a:t>
            </a:r>
          </a:p>
          <a:p>
            <a:pPr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Check previous service notes</a:t>
            </a:r>
          </a:p>
          <a:p>
            <a:pPr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Confirm stock and correct part</a:t>
            </a:r>
          </a:p>
          <a:p>
            <a:pPr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Help the next technician understand the job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3886200"/>
            <a:ext cx="4617720" cy="1051560"/>
          </a:xfrm>
          <a:prstGeom prst="roundRect">
            <a:avLst/>
          </a:prstGeom>
          <a:solidFill>
            <a:srgbClr val="FFF5E4"/>
          </a:solidFill>
          <a:ln>
            <a:solidFill>
              <a:srgbClr val="F4A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18872" wrap="square"/>
          <a:lstStyle/>
          <a:p>
            <a:pPr>
              <a:defRPr b="1" sz="1500">
                <a:solidFill>
                  <a:srgbClr val="1C5C4C"/>
                </a:solidFill>
              </a:defRPr>
            </a:pPr>
            <a:r>
              <a:t>Workshop connection</a:t>
            </a:r>
          </a:p>
          <a:p>
            <a:pPr>
              <a:defRPr sz="1200">
                <a:solidFill>
                  <a:srgbClr val="373732"/>
                </a:solidFill>
              </a:defRPr>
            </a:pPr>
            <a:r>
              <a:t>Use digital information with hands-on inspection, safety rules, and senior guidance.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c_d37e65ca46e5_4._EW_E&amp;W_B1T1_RM_A2.pdf_p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"/>
            <a:ext cx="5120640" cy="28472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1C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0" y="10972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C5C4C"/>
                </a:solidFill>
              </a:defRPr>
            </a:pPr>
            <a:r>
              <a:t>AI Readiness for Trades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E6E6E"/>
                </a:solidFill>
              </a:defRPr>
            </a:pPr>
            <a:r>
              <a:t>© Tata Community Initiatives Trust, 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100">
                <a:solidFill>
                  <a:srgbClr val="232D2A"/>
                </a:solidFill>
              </a:defRPr>
            </a:pPr>
            <a:r>
              <a:t>Safe Digital Habits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508760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5C4C"/>
                </a:solidFill>
              </a:defRPr>
            </a:pPr>
            <a:r>
              <a:t>Digital discipline is part of workshop discipline.</a:t>
            </a:r>
          </a:p>
        </p:txBody>
      </p:sp>
      <p:pic>
        <p:nvPicPr>
          <p:cNvPr id="9" name="Picture 8" descr="diagnostic_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143000"/>
            <a:ext cx="4617720" cy="2514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2148840"/>
            <a:ext cx="58064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 wrap="square"/>
          <a:lstStyle/>
          <a:p>
            <a:pPr algn="ctr"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Protect customer information</a:t>
            </a:r>
          </a:p>
          <a:p>
            <a:pPr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Do not mark checklist items without checking</a:t>
            </a:r>
          </a:p>
          <a:p>
            <a:pPr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Keep devices away from oil, water, heat, and moving parts</a:t>
            </a:r>
          </a:p>
          <a:p>
            <a:pPr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If unsure, ask a senior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3886200"/>
            <a:ext cx="4617720" cy="1051560"/>
          </a:xfrm>
          <a:prstGeom prst="roundRect">
            <a:avLst/>
          </a:prstGeom>
          <a:solidFill>
            <a:srgbClr val="FFF5E4"/>
          </a:solidFill>
          <a:ln>
            <a:solidFill>
              <a:srgbClr val="F4A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18872" wrap="square"/>
          <a:lstStyle/>
          <a:p>
            <a:pPr>
              <a:defRPr b="1" sz="1500">
                <a:solidFill>
                  <a:srgbClr val="1C5C4C"/>
                </a:solidFill>
              </a:defRPr>
            </a:pPr>
            <a:r>
              <a:t>Workshop connection</a:t>
            </a:r>
          </a:p>
          <a:p>
            <a:pPr>
              <a:defRPr sz="1200">
                <a:solidFill>
                  <a:srgbClr val="373732"/>
                </a:solidFill>
              </a:defRPr>
            </a:pPr>
            <a:r>
              <a:t>Use digital information with hands-on inspection, safety rules, and senior guidance.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c_d37e65ca46e5_4._EW_E&amp;W_B1T1_RM_A2.pdf_p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"/>
            <a:ext cx="5120640" cy="28472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1C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0" y="10972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C5C4C"/>
                </a:solidFill>
              </a:defRPr>
            </a:pPr>
            <a:r>
              <a:t>AI Readiness for Trades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E6E6E"/>
                </a:solidFill>
              </a:defRPr>
            </a:pPr>
            <a:r>
              <a:t>© Tata Community Initiatives Trust, 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100">
                <a:solidFill>
                  <a:srgbClr val="232D2A"/>
                </a:solidFill>
              </a:defRPr>
            </a:pPr>
            <a:r>
              <a:t>Learner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508760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5C4C"/>
                </a:solidFill>
              </a:defRPr>
            </a:pPr>
            <a:r>
              <a:t>A simple flow to follow in class, lab, and workplace.</a:t>
            </a:r>
          </a:p>
        </p:txBody>
      </p:sp>
      <p:pic>
        <p:nvPicPr>
          <p:cNvPr id="9" name="Picture 8" descr="parts_rec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143000"/>
            <a:ext cx="4617720" cy="2514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2148840"/>
            <a:ext cx="58064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 wrap="square"/>
          <a:lstStyle/>
          <a:p>
            <a:pPr algn="ctr"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Open job card → read task</a:t>
            </a:r>
          </a:p>
          <a:p>
            <a:pPr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Check safety instructions</a:t>
            </a:r>
          </a:p>
          <a:p>
            <a:pPr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Inspect practically → record observation</a:t>
            </a:r>
          </a:p>
          <a:p>
            <a:pPr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Get senior verification → save and close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3886200"/>
            <a:ext cx="4617720" cy="1051560"/>
          </a:xfrm>
          <a:prstGeom prst="roundRect">
            <a:avLst/>
          </a:prstGeom>
          <a:solidFill>
            <a:srgbClr val="FFF5E4"/>
          </a:solidFill>
          <a:ln>
            <a:solidFill>
              <a:srgbClr val="F4A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18872" wrap="square"/>
          <a:lstStyle/>
          <a:p>
            <a:pPr>
              <a:defRPr b="1" sz="1500">
                <a:solidFill>
                  <a:srgbClr val="1C5C4C"/>
                </a:solidFill>
              </a:defRPr>
            </a:pPr>
            <a:r>
              <a:t>Workshop connection</a:t>
            </a:r>
          </a:p>
          <a:p>
            <a:pPr>
              <a:defRPr sz="1200">
                <a:solidFill>
                  <a:srgbClr val="373732"/>
                </a:solidFill>
              </a:defRPr>
            </a:pPr>
            <a:r>
              <a:t>Use digital information with hands-on inspection, safety rules, and senior guidance.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c_d37e65ca46e5_4._EW_E&amp;W_B1T1_RM_A2.pdf_p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"/>
            <a:ext cx="5120640" cy="28472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1C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0" y="10972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C5C4C"/>
                </a:solidFill>
              </a:defRPr>
            </a:pPr>
            <a:r>
              <a:t>AI Readiness for Trades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E6E6E"/>
                </a:solidFill>
              </a:defRPr>
            </a:pPr>
            <a:r>
              <a:t>© Tata Community Initiatives Trust, 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100">
                <a:solidFill>
                  <a:srgbClr val="232D2A"/>
                </a:solidFill>
              </a:defRPr>
            </a:pPr>
            <a:r>
              <a:t>Remember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508760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5C4C"/>
                </a:solidFill>
              </a:defRPr>
            </a:pPr>
            <a:r>
              <a:t>Digital tools support the mechanic. They do not replace practical skill.</a:t>
            </a:r>
          </a:p>
        </p:txBody>
      </p:sp>
      <p:pic>
        <p:nvPicPr>
          <p:cNvPr id="9" name="Picture 8" descr="job_card_worksh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143000"/>
            <a:ext cx="4617720" cy="2514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2148840"/>
            <a:ext cx="58064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 wrap="square"/>
          <a:lstStyle/>
          <a:p>
            <a:pPr algn="ctr"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Read carefully</a:t>
            </a:r>
          </a:p>
          <a:p>
            <a:pPr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Organise clearly</a:t>
            </a:r>
          </a:p>
          <a:p>
            <a:pPr>
              <a:spcAft>
                <a:spcPts val="800"/>
              </a:spcAft>
              <a:defRPr sz="1800">
                <a:solidFill>
                  <a:srgbClr val="2D3935"/>
                </a:solidFill>
              </a:defRPr>
            </a:pPr>
            <a:r>
              <a:t>Verify before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3886200"/>
            <a:ext cx="4617720" cy="1051560"/>
          </a:xfrm>
          <a:prstGeom prst="roundRect">
            <a:avLst/>
          </a:prstGeom>
          <a:solidFill>
            <a:srgbClr val="FFF5E4"/>
          </a:solidFill>
          <a:ln>
            <a:solidFill>
              <a:srgbClr val="F4A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18872" wrap="square"/>
          <a:lstStyle/>
          <a:p>
            <a:pPr>
              <a:defRPr b="1" sz="1500">
                <a:solidFill>
                  <a:srgbClr val="1C5C4C"/>
                </a:solidFill>
              </a:defRPr>
            </a:pPr>
            <a:r>
              <a:t>Workshop connection</a:t>
            </a:r>
          </a:p>
          <a:p>
            <a:pPr>
              <a:defRPr sz="1200">
                <a:solidFill>
                  <a:srgbClr val="373732"/>
                </a:solidFill>
              </a:defRPr>
            </a:pPr>
            <a:r>
              <a:t>Use digital information with hands-on inspection, safety rules, and senior guidance.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