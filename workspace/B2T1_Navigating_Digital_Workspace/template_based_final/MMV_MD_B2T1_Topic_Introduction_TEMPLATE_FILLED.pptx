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media1.wav" ContentType="audio/x-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1066" r:id="rId2"/>
    <p:sldId id="1064" r:id="rId3"/>
    <p:sldId id="1065" r:id="rId4"/>
    <p:sldId id="1067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ta STRIVE" initials="TS" lastIdx="1" clrIdx="0">
    <p:extLst>
      <p:ext uri="{19B8F6BF-5375-455C-9EA6-DF929625EA0E}">
        <p15:presenceInfo xmlns:p15="http://schemas.microsoft.com/office/powerpoint/2012/main" userId="Tata STRIVE" providerId="None"/>
      </p:ext>
    </p:extLst>
  </p:cmAuthor>
  <p:cmAuthor id="2" name="admin" initials="a" lastIdx="1" clrIdx="1">
    <p:extLst>
      <p:ext uri="{19B8F6BF-5375-455C-9EA6-DF929625EA0E}">
        <p15:presenceInfo xmlns:p15="http://schemas.microsoft.com/office/powerpoint/2012/main" userId="5a65676a338a6502" providerId="Windows Live"/>
      </p:ext>
    </p:extLst>
  </p:cmAuthor>
  <p:cmAuthor id="3" name="Niharika Salvi" initials="NS" lastIdx="1" clrIdx="2">
    <p:extLst>
      <p:ext uri="{19B8F6BF-5375-455C-9EA6-DF929625EA0E}">
        <p15:presenceInfo xmlns:p15="http://schemas.microsoft.com/office/powerpoint/2012/main" userId="Niharika Salv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CCECFF"/>
    <a:srgbClr val="FF6600"/>
    <a:srgbClr val="0070C0"/>
    <a:srgbClr val="7030A0"/>
    <a:srgbClr val="664F73"/>
    <a:srgbClr val="DA0000"/>
    <a:srgbClr val="FF33CC"/>
    <a:srgbClr val="FFB31B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4259" autoAdjust="0"/>
  </p:normalViewPr>
  <p:slideViewPr>
    <p:cSldViewPr snapToGrid="0">
      <p:cViewPr varScale="1">
        <p:scale>
          <a:sx n="67" d="100"/>
          <a:sy n="67" d="100"/>
        </p:scale>
        <p:origin x="6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91A8B28-2E48-4498-972A-A34226DA36F0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E9B64D9-E991-41BE-AA21-8B0892774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5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b="1" i="1"/>
          </a:p>
        </p:txBody>
      </p:sp>
      <p:sp>
        <p:nvSpPr>
          <p:cNvPr id="51" name="Google Shape;51;p1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372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B64D9-E991-41BE-AA21-8B0892774D8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464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B64D9-E991-41BE-AA21-8B0892774D8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08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526953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jpg"/><Relationship Id="rId6" Type="http://schemas.openxmlformats.org/officeDocument/2006/relationships/image" Target="../media/image10.jpeg"/><Relationship Id="rId7" Type="http://schemas.openxmlformats.org/officeDocument/2006/relationships/image" Target="../media/image11.jpg"/><Relationship Id="rId8" Type="http://schemas.openxmlformats.org/officeDocument/2006/relationships/image" Target="../media/image1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2.png"/><Relationship Id="rId5" Type="http://schemas.openxmlformats.org/officeDocument/2006/relationships/image" Target="../media/image10.jpeg"/><Relationship Id="rId6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Date Format">
    <p:bg>
      <p:bgPr>
        <a:gradFill>
          <a:gsLst>
            <a:gs pos="10000">
              <a:srgbClr val="0067AC"/>
            </a:gs>
            <a:gs pos="100000">
              <a:srgbClr val="56BBED"/>
            </a:gs>
          </a:gsLst>
          <a:lin ang="91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 userDrawn="1"/>
        </p:nvSpPr>
        <p:spPr>
          <a:xfrm>
            <a:off x="-26125" y="-13064"/>
            <a:ext cx="12192000" cy="6871063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5" y="2080611"/>
            <a:ext cx="9542777" cy="530352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5" y="2675800"/>
            <a:ext cx="9542777" cy="45720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4132628"/>
            <a:ext cx="2454503" cy="11251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7264" b="-10755"/>
          <a:stretch/>
        </p:blipFill>
        <p:spPr>
          <a:xfrm>
            <a:off x="10232777" y="359686"/>
            <a:ext cx="1700365" cy="4667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4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7787" y="6421712"/>
            <a:ext cx="1896764" cy="19918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96918E-0820-4955-B026-BBC5F33C8A65}"/>
              </a:ext>
            </a:extLst>
          </p:cNvPr>
          <p:cNvCxnSpPr/>
          <p:nvPr userDrawn="1"/>
        </p:nvCxnSpPr>
        <p:spPr>
          <a:xfrm>
            <a:off x="508005" y="2656683"/>
            <a:ext cx="954277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2839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1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Date Form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 userDrawn="1"/>
        </p:nvSpPr>
        <p:spPr>
          <a:xfrm rot="10800000">
            <a:off x="-26128" y="0"/>
            <a:ext cx="12218125" cy="6858000"/>
          </a:xfrm>
          <a:prstGeom prst="rect">
            <a:avLst/>
          </a:prstGeom>
          <a:gradFill flip="none" rotWithShape="1">
            <a:gsLst>
              <a:gs pos="4000">
                <a:schemeClr val="tx2">
                  <a:lumMod val="40000"/>
                  <a:lumOff val="60000"/>
                </a:schemeClr>
              </a:gs>
              <a:gs pos="40000">
                <a:schemeClr val="tx2">
                  <a:lumMod val="20000"/>
                  <a:lumOff val="80000"/>
                </a:schemeClr>
              </a:gs>
              <a:gs pos="96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5" y="2080611"/>
            <a:ext cx="9542777" cy="530352"/>
          </a:xfrm>
        </p:spPr>
        <p:txBody>
          <a:bodyPr>
            <a:noAutofit/>
          </a:bodyPr>
          <a:lstStyle>
            <a:lvl1pPr algn="l">
              <a:defRPr sz="3067">
                <a:solidFill>
                  <a:srgbClr val="0063B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5" y="2675800"/>
            <a:ext cx="9542777" cy="45720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rgbClr val="0063BE"/>
                </a:solidFill>
                <a:latin typeface="+mj-lt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2861" y="5879701"/>
            <a:ext cx="2475555" cy="402347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4132628"/>
            <a:ext cx="2454503" cy="11251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7264" b="-10755"/>
          <a:stretch/>
        </p:blipFill>
        <p:spPr>
          <a:xfrm>
            <a:off x="10232777" y="359686"/>
            <a:ext cx="1700365" cy="4667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4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4951" y="6421712"/>
            <a:ext cx="1896764" cy="19918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F0B6B3-0B43-4BF3-A63A-70F6DEBD7F77}"/>
              </a:ext>
            </a:extLst>
          </p:cNvPr>
          <p:cNvCxnSpPr/>
          <p:nvPr userDrawn="1"/>
        </p:nvCxnSpPr>
        <p:spPr>
          <a:xfrm>
            <a:off x="508005" y="2656683"/>
            <a:ext cx="954277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577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D681A49-61D2-481E-8C55-0E01CB10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47" y="60741"/>
            <a:ext cx="9816267" cy="642647"/>
          </a:xfrm>
        </p:spPr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0710EC-A379-40BF-8ED0-9F4CB038C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0895" y="1189037"/>
            <a:ext cx="11316303" cy="4525963"/>
          </a:xfrm>
        </p:spPr>
        <p:txBody>
          <a:bodyPr>
            <a:noAutofit/>
          </a:bodyPr>
          <a:lstStyle>
            <a:lvl1pPr>
              <a:defRPr sz="2267"/>
            </a:lvl1pPr>
            <a:lvl2pPr>
              <a:defRPr sz="2000"/>
            </a:lvl2pPr>
            <a:lvl3pPr>
              <a:defRPr sz="1867"/>
            </a:lvl3pPr>
            <a:lvl4pPr>
              <a:defRPr sz="1600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4809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729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4405" y="1190626"/>
            <a:ext cx="11161184" cy="1323975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02901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23000">
              <a:srgbClr val="7030A0"/>
            </a:gs>
            <a:gs pos="100000">
              <a:srgbClr val="00B0F0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0DBD87-0738-4FD4-A686-52FD6A7AAA2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3000">
                <a:srgbClr val="7030A0"/>
              </a:gs>
              <a:gs pos="100000">
                <a:srgbClr val="00B0F0"/>
              </a:gs>
            </a:gsLst>
            <a:lin ang="189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755A08-B4F3-4A41-9454-9D5D56A450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0973" y="2374616"/>
            <a:ext cx="3404067" cy="905034"/>
          </a:xfrm>
          <a:prstGeom prst="rect">
            <a:avLst/>
          </a:prstGeom>
        </p:spPr>
      </p:pic>
      <p:sp>
        <p:nvSpPr>
          <p:cNvPr id="8" name="Google Shape;34;p26"/>
          <p:cNvSpPr txBox="1"/>
          <p:nvPr userDrawn="1"/>
        </p:nvSpPr>
        <p:spPr>
          <a:xfrm>
            <a:off x="4026598" y="3666908"/>
            <a:ext cx="4235056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Skill Development Initiative of Tata Trusts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www.tatastrive.com</a:t>
            </a:r>
            <a:r>
              <a:rPr lang="en-US" sz="1500" dirty="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81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Date Format" userDrawn="1">
  <p:cSld name="2_Title Slide with Date Format">
    <p:bg>
      <p:bgPr>
        <a:gradFill>
          <a:gsLst>
            <a:gs pos="0">
              <a:srgbClr val="0067AC"/>
            </a:gs>
            <a:gs pos="10000">
              <a:srgbClr val="0067AC"/>
            </a:gs>
            <a:gs pos="100000">
              <a:srgbClr val="56BBED"/>
            </a:gs>
          </a:gsLst>
          <a:lin ang="9120000" scaled="0"/>
        </a:gra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/>
          <p:nvPr userDrawn="1"/>
        </p:nvSpPr>
        <p:spPr>
          <a:xfrm>
            <a:off x="-13063" y="-13063"/>
            <a:ext cx="12192000" cy="6871063"/>
          </a:xfrm>
          <a:prstGeom prst="rect">
            <a:avLst/>
          </a:prstGeom>
          <a:gradFill>
            <a:gsLst>
              <a:gs pos="0">
                <a:srgbClr val="0067AC"/>
              </a:gs>
              <a:gs pos="10000">
                <a:srgbClr val="0067AC"/>
              </a:gs>
              <a:gs pos="100000">
                <a:srgbClr val="56BBED"/>
              </a:gs>
            </a:gsLst>
            <a:lin ang="912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endParaRPr sz="1867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"/>
          <p:cNvSpPr txBox="1">
            <a:spLocks noGrp="1"/>
          </p:cNvSpPr>
          <p:nvPr>
            <p:ph type="ctrTitle"/>
          </p:nvPr>
        </p:nvSpPr>
        <p:spPr>
          <a:xfrm>
            <a:off x="222253" y="3947456"/>
            <a:ext cx="9542777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67"/>
              <a:buFont typeface="Calibri"/>
              <a:buNone/>
              <a:defRPr sz="30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24" name="Google Shape;2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6126" y="4866268"/>
            <a:ext cx="2454503" cy="11251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7"/>
          <p:cNvCxnSpPr/>
          <p:nvPr/>
        </p:nvCxnSpPr>
        <p:spPr>
          <a:xfrm>
            <a:off x="222254" y="4552158"/>
            <a:ext cx="9542777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4CCE16-0E65-41C5-A2F9-A35A7841B3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7787" y="6421712"/>
            <a:ext cx="1896764" cy="199188"/>
          </a:xfrm>
          <a:prstGeom prst="rect">
            <a:avLst/>
          </a:prstGeom>
        </p:spPr>
      </p:pic>
      <p:pic>
        <p:nvPicPr>
          <p:cNvPr id="14" name="Google Shape;71;p14" title="Logo.png">
            <a:extLst>
              <a:ext uri="{FF2B5EF4-FFF2-40B4-BE49-F238E27FC236}">
                <a16:creationId xmlns:a16="http://schemas.microsoft.com/office/drawing/2014/main" id="{DB3417CE-54C3-4A3C-B839-265DD257A6C6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 r="42243"/>
          <a:stretch/>
        </p:blipFill>
        <p:spPr>
          <a:xfrm>
            <a:off x="10134600" y="323851"/>
            <a:ext cx="1419281" cy="68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67;p14">
            <a:extLst>
              <a:ext uri="{FF2B5EF4-FFF2-40B4-BE49-F238E27FC236}">
                <a16:creationId xmlns:a16="http://schemas.microsoft.com/office/drawing/2014/main" id="{82B6C6E3-3577-4326-A266-5837C6F08B0F}"/>
              </a:ext>
            </a:extLst>
          </p:cNvPr>
          <p:cNvSpPr/>
          <p:nvPr userDrawn="1"/>
        </p:nvSpPr>
        <p:spPr>
          <a:xfrm>
            <a:off x="-26126" y="1388562"/>
            <a:ext cx="12218126" cy="146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657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68;p14" title="dgt-logo_1.jpg">
            <a:extLst>
              <a:ext uri="{FF2B5EF4-FFF2-40B4-BE49-F238E27FC236}">
                <a16:creationId xmlns:a16="http://schemas.microsoft.com/office/drawing/2014/main" id="{18677619-69BF-4BE5-81D0-F43CBD38312A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3776" y="1491431"/>
            <a:ext cx="1482033" cy="124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69;p14" title="WhatsApp Image 2025-12-15 at 5.37.18 PM (1)_1.jpeg">
            <a:extLst>
              <a:ext uri="{FF2B5EF4-FFF2-40B4-BE49-F238E27FC236}">
                <a16:creationId xmlns:a16="http://schemas.microsoft.com/office/drawing/2014/main" id="{D767DA5C-CD8E-44E6-B096-D489A05ADD08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0424" y="1941709"/>
            <a:ext cx="2138473" cy="43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70;p14" title="WhatsApp Image 2025-12-22 at 11.36.10 AM (2).jpeg">
            <a:extLst>
              <a:ext uri="{FF2B5EF4-FFF2-40B4-BE49-F238E27FC236}">
                <a16:creationId xmlns:a16="http://schemas.microsoft.com/office/drawing/2014/main" id="{EC701902-737E-4633-9A38-AE88EF995169}"/>
              </a:ext>
            </a:extLst>
          </p:cNvPr>
          <p:cNvPicPr preferRelativeResize="0"/>
          <p:nvPr userDrawn="1"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28435" y="1573954"/>
            <a:ext cx="1319052" cy="107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73;p14" title="Oct082016104008_1.jpg">
            <a:extLst>
              <a:ext uri="{FF2B5EF4-FFF2-40B4-BE49-F238E27FC236}">
                <a16:creationId xmlns:a16="http://schemas.microsoft.com/office/drawing/2014/main" id="{602B5D78-8901-4F9A-905E-A19053D0CBC9}"/>
              </a:ext>
            </a:extLst>
          </p:cNvPr>
          <p:cNvPicPr preferRelativeResize="0"/>
          <p:nvPr userDrawn="1"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80113" y="1662339"/>
            <a:ext cx="1651909" cy="991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76141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1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1_Custom Layout">
    <p:bg>
      <p:bgPr>
        <a:gradFill>
          <a:gsLst>
            <a:gs pos="0">
              <a:srgbClr val="7030A0"/>
            </a:gs>
            <a:gs pos="23000">
              <a:srgbClr val="7030A0"/>
            </a:gs>
            <a:gs pos="100000">
              <a:srgbClr val="00B0F0"/>
            </a:gs>
          </a:gsLst>
          <a:lin ang="18900000" scaled="0"/>
        </a:gra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030A0"/>
              </a:gs>
              <a:gs pos="23000">
                <a:srgbClr val="7030A0"/>
              </a:gs>
              <a:gs pos="100000">
                <a:srgbClr val="00B0F0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8;p20" title="Logo.png">
            <a:extLst>
              <a:ext uri="{FF2B5EF4-FFF2-40B4-BE49-F238E27FC236}">
                <a16:creationId xmlns:a16="http://schemas.microsoft.com/office/drawing/2014/main" id="{93080E97-3E1B-4968-AB05-D47C87DFED8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27200" y="1710500"/>
            <a:ext cx="2069750" cy="54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19;p20">
            <a:extLst>
              <a:ext uri="{FF2B5EF4-FFF2-40B4-BE49-F238E27FC236}">
                <a16:creationId xmlns:a16="http://schemas.microsoft.com/office/drawing/2014/main" id="{E23FFBF6-7123-4925-B16E-0E70D4E91F08}"/>
              </a:ext>
            </a:extLst>
          </p:cNvPr>
          <p:cNvSpPr txBox="1"/>
          <p:nvPr userDrawn="1"/>
        </p:nvSpPr>
        <p:spPr>
          <a:xfrm>
            <a:off x="1828800" y="2653800"/>
            <a:ext cx="9086400" cy="5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Skill Development Initiative of Tata Trusts</a:t>
            </a:r>
            <a:endParaRPr sz="1800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" name="Google Shape;120;p20">
            <a:extLst>
              <a:ext uri="{FF2B5EF4-FFF2-40B4-BE49-F238E27FC236}">
                <a16:creationId xmlns:a16="http://schemas.microsoft.com/office/drawing/2014/main" id="{3BD00804-C288-4234-B06E-0A660BB3DD34}"/>
              </a:ext>
            </a:extLst>
          </p:cNvPr>
          <p:cNvSpPr txBox="1"/>
          <p:nvPr userDrawn="1"/>
        </p:nvSpPr>
        <p:spPr>
          <a:xfrm>
            <a:off x="1818875" y="3137400"/>
            <a:ext cx="9086400" cy="5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www.tatastrive.com</a:t>
            </a:r>
            <a:endParaRPr sz="1800"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Google Shape;121;p20">
            <a:extLst>
              <a:ext uri="{FF2B5EF4-FFF2-40B4-BE49-F238E27FC236}">
                <a16:creationId xmlns:a16="http://schemas.microsoft.com/office/drawing/2014/main" id="{A76B3C75-5243-4494-B826-2423AF4B1CB9}"/>
              </a:ext>
            </a:extLst>
          </p:cNvPr>
          <p:cNvSpPr/>
          <p:nvPr userDrawn="1"/>
        </p:nvSpPr>
        <p:spPr>
          <a:xfrm>
            <a:off x="0" y="5268327"/>
            <a:ext cx="12192000" cy="115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2275" tIns="72275" rIns="72275" bIns="72275" anchor="ctr" anchorCtr="0">
            <a:noAutofit/>
          </a:bodyPr>
          <a:lstStyle/>
          <a:p>
            <a:pPr marL="2891592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6"/>
          </a:p>
        </p:txBody>
      </p:sp>
      <p:grpSp>
        <p:nvGrpSpPr>
          <p:cNvPr id="15" name="Google Shape;122;p20">
            <a:extLst>
              <a:ext uri="{FF2B5EF4-FFF2-40B4-BE49-F238E27FC236}">
                <a16:creationId xmlns:a16="http://schemas.microsoft.com/office/drawing/2014/main" id="{964B03F5-0E8B-403A-9F85-30590B352A1A}"/>
              </a:ext>
            </a:extLst>
          </p:cNvPr>
          <p:cNvGrpSpPr/>
          <p:nvPr userDrawn="1"/>
        </p:nvGrpSpPr>
        <p:grpSpPr>
          <a:xfrm>
            <a:off x="2404153" y="5340525"/>
            <a:ext cx="7059548" cy="1058316"/>
            <a:chOff x="1030078" y="3722348"/>
            <a:chExt cx="7059548" cy="1058316"/>
          </a:xfrm>
        </p:grpSpPr>
        <p:pic>
          <p:nvPicPr>
            <p:cNvPr id="16" name="Google Shape;123;p20" title="dgt-logo_1.jpg">
              <a:extLst>
                <a:ext uri="{FF2B5EF4-FFF2-40B4-BE49-F238E27FC236}">
                  <a16:creationId xmlns:a16="http://schemas.microsoft.com/office/drawing/2014/main" id="{376EAB85-A406-48FB-B98D-6C1319D7A0F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30078" y="3722348"/>
              <a:ext cx="1293096" cy="1058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24;p20" title="Oct082016104008_1.jpg">
              <a:extLst>
                <a:ext uri="{FF2B5EF4-FFF2-40B4-BE49-F238E27FC236}">
                  <a16:creationId xmlns:a16="http://schemas.microsoft.com/office/drawing/2014/main" id="{AA84D9FC-A796-4E56-ADFA-7B28A207920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88411" y="3825020"/>
              <a:ext cx="1453383" cy="91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25;p20" title="WhatsApp Image 2025-12-15 at 5.37.18 PM (1)_1.jpeg">
              <a:extLst>
                <a:ext uri="{FF2B5EF4-FFF2-40B4-BE49-F238E27FC236}">
                  <a16:creationId xmlns:a16="http://schemas.microsoft.com/office/drawing/2014/main" id="{C47CEE03-BB38-42C3-9F51-D3C70330AEE0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23775" y="4083498"/>
              <a:ext cx="1865850" cy="3946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26;p20" title="WhatsApp Image 2025-12-22 at 11.36.10 AM (2).jpeg">
              <a:extLst>
                <a:ext uri="{FF2B5EF4-FFF2-40B4-BE49-F238E27FC236}">
                  <a16:creationId xmlns:a16="http://schemas.microsoft.com/office/drawing/2014/main" id="{3B110D23-4E12-497D-AD5C-416EB93D3107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80339" y="3776344"/>
              <a:ext cx="1150892" cy="98459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68430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Relationship Id="rId1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51"/>
            <a:ext cx="12192000" cy="787741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8347" y="60741"/>
            <a:ext cx="10408695" cy="642647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347" y="924945"/>
            <a:ext cx="11348852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3810001"/>
            <a:ext cx="121920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5791202" y="6473952"/>
            <a:ext cx="88476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kumimoji="0" lang="en-US" sz="1067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067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 </a:t>
            </a: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 flipH="1">
            <a:off x="1" y="6317015"/>
            <a:ext cx="2197100" cy="546100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0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6851" y="172660"/>
            <a:ext cx="916496" cy="42146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11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7787" y="6421712"/>
            <a:ext cx="1896764" cy="199188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516152" y="6392523"/>
            <a:ext cx="53932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 Tata Community Initiatives Trust, All Rights Reserved</a:t>
            </a:r>
            <a:endParaRPr lang="en-IN" sz="1100" i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1377DE-9A79-4177-A572-D1FC96D8BBAC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23312" y="-100497"/>
            <a:ext cx="2623730" cy="96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6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2" r:id="rId2"/>
    <p:sldLayoutId id="2147483662" r:id="rId3"/>
    <p:sldLayoutId id="2147483666" r:id="rId4"/>
    <p:sldLayoutId id="2147483671" r:id="rId5"/>
    <p:sldLayoutId id="2147483701" r:id="rId6"/>
    <p:sldLayoutId id="2147483703" r:id="rId7"/>
    <p:sldLayoutId id="2147483704" r:id="rId8"/>
  </p:sldLayoutIdLst>
  <p:hf sldNum="0" hdr="0" ftr="0" dt="0"/>
  <p:txStyles>
    <p:titleStyle>
      <a:lvl1pPr algn="l" defTabSz="914377" rtl="0" eaLnBrk="1" latinLnBrk="0" hangingPunct="1"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742932" indent="-285744" algn="l" defTabSz="914377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1142971" indent="-228594" algn="l" defTabSz="914377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867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600160" indent="-228594" algn="l" defTabSz="914377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wav"/><Relationship Id="rId2" Type="http://schemas.openxmlformats.org/officeDocument/2006/relationships/audio" Target="../media/media1.wav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3.jpg"/><Relationship Id="rId6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8D8EBF-CE10-4550-823A-44BC9F001B36}"/>
              </a:ext>
            </a:extLst>
          </p:cNvPr>
          <p:cNvSpPr/>
          <p:nvPr/>
        </p:nvSpPr>
        <p:spPr>
          <a:xfrm>
            <a:off x="3384223" y="1451728"/>
            <a:ext cx="1998482" cy="133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2A27D-76F6-45DE-A883-D7A35346C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6497" y="1566120"/>
            <a:ext cx="1160283" cy="1160283"/>
          </a:xfrm>
          <a:prstGeom prst="rect">
            <a:avLst/>
          </a:prstGeom>
        </p:spPr>
      </p:pic>
      <p:sp>
        <p:nvSpPr>
          <p:cNvPr id="6" name="Google Shape;54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sz="2400" b="1"/>
              <a:t>B2T1 - Navigating the Digital Workspace</a:t>
            </a:r>
            <a:endParaRPr sz="3200" b="1" u="none" strike="noStrike" cap="none" dirty="0"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08003" y="4652704"/>
            <a:ext cx="9542777" cy="53035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80" tIns="34290" rIns="68580" bIns="3429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3067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spcBef>
                <a:spcPct val="0"/>
              </a:spcBef>
            </a:pPr>
            <a:r>
              <a:rPr lang="en-IN" sz="2800" b="1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Overview</a:t>
            </a:r>
          </a:p>
        </p:txBody>
      </p:sp>
      <p:pic>
        <p:nvPicPr>
          <p:cNvPr id="8" name="Scott_Holmes_-_06_-_Reach_for_Success (online-audio-converter.com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3" y="58883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>
            <a:extLst>
              <a:ext uri="{FF2B5EF4-FFF2-40B4-BE49-F238E27FC236}">
                <a16:creationId xmlns:a16="http://schemas.microsoft.com/office/drawing/2014/main" id="{BEF11555-5967-48B6-9CCC-A4116CA2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47" y="60741"/>
            <a:ext cx="10408695" cy="642647"/>
          </a:xfrm>
        </p:spPr>
        <p:txBody>
          <a:bodyPr/>
          <a:lstStyle/>
          <a:p>
            <a:r>
              <a:rPr lang="en-US" b="1" dirty="0"/>
              <a:t>What will you learn?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608" y="6009122"/>
            <a:ext cx="83275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666666"/>
                </a:solidFill>
                <a:latin typeface="OpenSans-Regular"/>
              </a:rPr>
              <a:t>Source: </a:t>
            </a:r>
            <a:r>
              <a:rPr lang="en-US" sz="1200" i="1" dirty="0">
                <a:solidFill>
                  <a:srgbClr val="666666"/>
                </a:solidFill>
                <a:latin typeface="OpenSans-Regular"/>
              </a:rPr>
              <a:t>Background sound- Beyond dreams by Scott Homes, Licensed for commercial use under Creative Commons</a:t>
            </a:r>
            <a:endParaRPr lang="en-IN" sz="1200" i="1" dirty="0"/>
          </a:p>
        </p:txBody>
      </p:sp>
      <p:sp>
        <p:nvSpPr>
          <p:cNvPr id="6" name="Rectangle 5"/>
          <p:cNvSpPr/>
          <p:nvPr/>
        </p:nvSpPr>
        <p:spPr>
          <a:xfrm>
            <a:off x="602853" y="913475"/>
            <a:ext cx="111667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/>
              <a:t>In this topic, you will learn how a digital workspace helps a mechanic organise information, read records, and communicate clearly in a workshop.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1430BB9-CAA6-4781-9537-3647B0A69FB5}"/>
              </a:ext>
            </a:extLst>
          </p:cNvPr>
          <p:cNvGrpSpPr/>
          <p:nvPr/>
        </p:nvGrpSpPr>
        <p:grpSpPr>
          <a:xfrm>
            <a:off x="495403" y="5350251"/>
            <a:ext cx="11201194" cy="510751"/>
            <a:chOff x="473044" y="5595359"/>
            <a:chExt cx="11201194" cy="510751"/>
          </a:xfrm>
          <a:solidFill>
            <a:schemeClr val="bg1">
              <a:lumMod val="85000"/>
            </a:schemeClr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6D49137-8D73-4097-B456-C6AE29AFFE27}"/>
                </a:ext>
              </a:extLst>
            </p:cNvPr>
            <p:cNvSpPr/>
            <p:nvPr/>
          </p:nvSpPr>
          <p:spPr>
            <a:xfrm>
              <a:off x="1261544" y="5691365"/>
              <a:ext cx="10412694" cy="362494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Topic-end Assessment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7EBF506-D171-4A7E-A92B-1A21995747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904"/>
            <a:stretch/>
          </p:blipFill>
          <p:spPr>
            <a:xfrm>
              <a:off x="473044" y="5595359"/>
              <a:ext cx="593240" cy="510751"/>
            </a:xfrm>
            <a:prstGeom prst="roundRect">
              <a:avLst>
                <a:gd name="adj" fmla="val 8594"/>
              </a:avLst>
            </a:prstGeom>
            <a:grpFill/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EA70BA7-CB29-4253-AE20-B0D368E3A228}"/>
              </a:ext>
            </a:extLst>
          </p:cNvPr>
          <p:cNvGrpSpPr/>
          <p:nvPr/>
        </p:nvGrpSpPr>
        <p:grpSpPr>
          <a:xfrm>
            <a:off x="361585" y="2739154"/>
            <a:ext cx="11315962" cy="770677"/>
            <a:chOff x="363829" y="3831294"/>
            <a:chExt cx="11315962" cy="770677"/>
          </a:xfrm>
        </p:grpSpPr>
        <p:sp>
          <p:nvSpPr>
            <p:cNvPr id="41" name="Google Shape;61;p9">
              <a:extLst>
                <a:ext uri="{FF2B5EF4-FFF2-40B4-BE49-F238E27FC236}">
                  <a16:creationId xmlns:a16="http://schemas.microsoft.com/office/drawing/2014/main" id="{232AF7B8-0FDD-466C-91E4-DE0BF6EC4FA1}"/>
                </a:ext>
              </a:extLst>
            </p:cNvPr>
            <p:cNvSpPr/>
            <p:nvPr/>
          </p:nvSpPr>
          <p:spPr>
            <a:xfrm>
              <a:off x="1214665" y="3838313"/>
              <a:ext cx="2932998" cy="482870"/>
            </a:xfrm>
            <a:prstGeom prst="rect">
              <a:avLst/>
            </a:prstGeom>
            <a:solidFill>
              <a:srgbClr val="ABD38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sz="1300" b="1"/>
                <a:t>Learning Video</a:t>
              </a:r>
              <a:endParaRPr sz="1600" b="1" i="0" u="none" strike="noStrike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3787602" y="3838313"/>
              <a:ext cx="7892189" cy="763658"/>
              <a:chOff x="2627141" y="1658694"/>
              <a:chExt cx="6744973" cy="763658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A2E44C-1BD0-482B-8624-A11AC4B06C06}"/>
                  </a:ext>
                </a:extLst>
              </p:cNvPr>
              <p:cNvSpPr/>
              <p:nvPr/>
            </p:nvSpPr>
            <p:spPr>
              <a:xfrm>
                <a:off x="3027711" y="1658694"/>
                <a:ext cx="6344403" cy="55865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sz="1200"/>
                  <a:t>This video will show why digital workspace skills matter in a modern automobile workshop.</a:t>
                </a:r>
              </a:p>
            </p:txBody>
          </p: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431B8135-57EF-4C3F-BDE4-44D360C6EC83}"/>
                  </a:ext>
                </a:extLst>
              </p:cNvPr>
              <p:cNvSpPr/>
              <p:nvPr/>
            </p:nvSpPr>
            <p:spPr>
              <a:xfrm rot="10800000">
                <a:off x="2627141" y="2151870"/>
                <a:ext cx="620680" cy="270482"/>
              </a:xfrm>
              <a:prstGeom prst="triangle">
                <a:avLst/>
              </a:prstGeom>
              <a:solidFill>
                <a:schemeClr val="accent4">
                  <a:lumMod val="75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42" name="Google Shape;75;p9">
              <a:extLst>
                <a:ext uri="{FF2B5EF4-FFF2-40B4-BE49-F238E27FC236}">
                  <a16:creationId xmlns:a16="http://schemas.microsoft.com/office/drawing/2014/main" id="{71EBEAD9-16E0-4D2A-B60A-EDFDA101D1A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  <a:clrChange>
                <a:clrFrom>
                  <a:srgbClr val="F4F4F6"/>
                </a:clrFrom>
                <a:clrTo>
                  <a:srgbClr val="F4F4F6">
                    <a:alpha val="0"/>
                  </a:srgbClr>
                </a:clrTo>
              </a:clrChange>
            </a:blip>
            <a:srcRect r="4604" b="16097"/>
            <a:stretch/>
          </p:blipFill>
          <p:spPr>
            <a:xfrm>
              <a:off x="363829" y="3831294"/>
              <a:ext cx="596692" cy="500195"/>
            </a:xfrm>
            <a:prstGeom prst="roundRect">
              <a:avLst>
                <a:gd name="adj" fmla="val 8594"/>
              </a:avLst>
            </a:prstGeom>
            <a:solidFill>
              <a:srgbClr val="89C35F"/>
            </a:solidFill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857632-A53A-4340-A395-04DA34676441}"/>
              </a:ext>
            </a:extLst>
          </p:cNvPr>
          <p:cNvGrpSpPr/>
          <p:nvPr/>
        </p:nvGrpSpPr>
        <p:grpSpPr>
          <a:xfrm>
            <a:off x="369684" y="1864449"/>
            <a:ext cx="11311793" cy="769580"/>
            <a:chOff x="369684" y="1864449"/>
            <a:chExt cx="11311793" cy="769580"/>
          </a:xfrm>
        </p:grpSpPr>
        <p:grpSp>
          <p:nvGrpSpPr>
            <p:cNvPr id="33" name="Group 32"/>
            <p:cNvGrpSpPr/>
            <p:nvPr/>
          </p:nvGrpSpPr>
          <p:grpSpPr>
            <a:xfrm>
              <a:off x="3819948" y="1864449"/>
              <a:ext cx="7861529" cy="769580"/>
              <a:chOff x="2653346" y="1739228"/>
              <a:chExt cx="6718769" cy="76958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7A2E44C-1BD0-482B-8624-A11AC4B06C06}"/>
                  </a:ext>
                </a:extLst>
              </p:cNvPr>
              <p:cNvSpPr/>
              <p:nvPr/>
            </p:nvSpPr>
            <p:spPr>
              <a:xfrm>
                <a:off x="3008095" y="1739228"/>
                <a:ext cx="6364020" cy="55865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sz="1200"/>
                  <a:t>This reading material will explain job cards, service records, files, folders, and safe digital habits.</a:t>
                </a:r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431B8135-57EF-4C3F-BDE4-44D360C6EC83}"/>
                  </a:ext>
                </a:extLst>
              </p:cNvPr>
              <p:cNvSpPr/>
              <p:nvPr/>
            </p:nvSpPr>
            <p:spPr>
              <a:xfrm rot="10800000">
                <a:off x="2653346" y="2238326"/>
                <a:ext cx="620680" cy="270482"/>
              </a:xfrm>
              <a:prstGeom prst="triangle">
                <a:avLst/>
              </a:prstGeom>
              <a:solidFill>
                <a:schemeClr val="accent4">
                  <a:lumMod val="75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36" name="Google Shape;61;p9">
              <a:extLst>
                <a:ext uri="{FF2B5EF4-FFF2-40B4-BE49-F238E27FC236}">
                  <a16:creationId xmlns:a16="http://schemas.microsoft.com/office/drawing/2014/main" id="{C6CC0BC7-220F-40A9-A82C-8A3B51258332}"/>
                </a:ext>
              </a:extLst>
            </p:cNvPr>
            <p:cNvSpPr/>
            <p:nvPr/>
          </p:nvSpPr>
          <p:spPr>
            <a:xfrm>
              <a:off x="1194872" y="1876425"/>
              <a:ext cx="2932998" cy="463304"/>
            </a:xfrm>
            <a:prstGeom prst="rect">
              <a:avLst/>
            </a:prstGeom>
            <a:solidFill>
              <a:srgbClr val="ABD38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sz="1300" b="1"/>
                <a:t>Reading Material 1</a:t>
              </a:r>
              <a:endParaRPr sz="1600" b="1" i="0" u="none" strike="noStrike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pic>
          <p:nvPicPr>
            <p:cNvPr id="45" name="Google Shape;70;p9">
              <a:extLst>
                <a:ext uri="{FF2B5EF4-FFF2-40B4-BE49-F238E27FC236}">
                  <a16:creationId xmlns:a16="http://schemas.microsoft.com/office/drawing/2014/main" id="{CAF297EF-23B2-4EA9-8F50-85055661B5A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b="20045"/>
            <a:stretch/>
          </p:blipFill>
          <p:spPr>
            <a:xfrm>
              <a:off x="369684" y="1877869"/>
              <a:ext cx="622190" cy="474142"/>
            </a:xfrm>
            <a:prstGeom prst="roundRect">
              <a:avLst>
                <a:gd name="adj" fmla="val 8594"/>
              </a:avLst>
            </a:prstGeom>
            <a:solidFill>
              <a:srgbClr val="89C35F"/>
            </a:solidFill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7873B02-4237-46A2-8BC7-EEFAF071B765}"/>
              </a:ext>
            </a:extLst>
          </p:cNvPr>
          <p:cNvGrpSpPr/>
          <p:nvPr/>
        </p:nvGrpSpPr>
        <p:grpSpPr>
          <a:xfrm>
            <a:off x="355321" y="3597586"/>
            <a:ext cx="11322226" cy="838741"/>
            <a:chOff x="359251" y="2744468"/>
            <a:chExt cx="11322226" cy="838741"/>
          </a:xfrm>
        </p:grpSpPr>
        <p:sp>
          <p:nvSpPr>
            <p:cNvPr id="39" name="Google Shape;61;p9">
              <a:extLst>
                <a:ext uri="{FF2B5EF4-FFF2-40B4-BE49-F238E27FC236}">
                  <a16:creationId xmlns:a16="http://schemas.microsoft.com/office/drawing/2014/main" id="{5CC2EA85-AD6E-4109-9524-3485845E207F}"/>
                </a:ext>
              </a:extLst>
            </p:cNvPr>
            <p:cNvSpPr/>
            <p:nvPr/>
          </p:nvSpPr>
          <p:spPr>
            <a:xfrm>
              <a:off x="1194872" y="2827929"/>
              <a:ext cx="2932998" cy="482870"/>
            </a:xfrm>
            <a:prstGeom prst="rect">
              <a:avLst/>
            </a:prstGeom>
            <a:solidFill>
              <a:srgbClr val="ABD38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sz="1300" b="1"/>
                <a:t>Assignment</a:t>
              </a:r>
              <a:endParaRPr sz="1600" b="1" i="0" u="none" strike="noStrike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endParaRP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3783737" y="2836792"/>
              <a:ext cx="7897740" cy="746417"/>
              <a:chOff x="2622397" y="1658694"/>
              <a:chExt cx="6749717" cy="74641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7A2E44C-1BD0-482B-8624-A11AC4B06C06}"/>
                  </a:ext>
                </a:extLst>
              </p:cNvPr>
              <p:cNvSpPr/>
              <p:nvPr/>
            </p:nvSpPr>
            <p:spPr>
              <a:xfrm>
                <a:off x="3022967" y="1658694"/>
                <a:ext cx="6349147" cy="54626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sz="1200"/>
                  <a:t>This assignment will help you practise finding and organising workshop information.</a:t>
                </a: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431B8135-57EF-4C3F-BDE4-44D360C6EC83}"/>
                  </a:ext>
                </a:extLst>
              </p:cNvPr>
              <p:cNvSpPr/>
              <p:nvPr/>
            </p:nvSpPr>
            <p:spPr>
              <a:xfrm rot="10800000">
                <a:off x="2622397" y="2134629"/>
                <a:ext cx="620680" cy="270482"/>
              </a:xfrm>
              <a:prstGeom prst="triangle">
                <a:avLst/>
              </a:prstGeom>
              <a:solidFill>
                <a:schemeClr val="accent4">
                  <a:lumMod val="75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437FB52-5B3F-40E0-929C-41293B87A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4F4F6"/>
                </a:clrFrom>
                <a:clrTo>
                  <a:srgbClr val="F4F4F6">
                    <a:alpha val="0"/>
                  </a:srgbClr>
                </a:clrTo>
              </a:clrChange>
              <a:alphaModFix/>
            </a:blip>
            <a:stretch>
              <a:fillRect/>
            </a:stretch>
          </p:blipFill>
          <p:spPr>
            <a:xfrm>
              <a:off x="359251" y="2744468"/>
              <a:ext cx="596461" cy="544323"/>
            </a:xfrm>
            <a:prstGeom prst="roundRect">
              <a:avLst>
                <a:gd name="adj" fmla="val 8594"/>
              </a:avLst>
            </a:prstGeom>
            <a:solidFill>
              <a:srgbClr val="89C35F"/>
            </a:solidFill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</p:pic>
      </p:grpSp>
    </p:spTree>
    <p:extLst>
      <p:ext uri="{BB962C8B-B14F-4D97-AF65-F5344CB8AC3E}">
        <p14:creationId xmlns:p14="http://schemas.microsoft.com/office/powerpoint/2010/main" val="29481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0"/>
    </mc:Choice>
    <mc:Fallback xmlns="">
      <p:transition spd="slow" advTm="4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>
            <a:extLst>
              <a:ext uri="{FF2B5EF4-FFF2-40B4-BE49-F238E27FC236}">
                <a16:creationId xmlns:a16="http://schemas.microsoft.com/office/drawing/2014/main" id="{BEF11555-5967-48B6-9CCC-A4116CA2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47" y="60741"/>
            <a:ext cx="10408695" cy="642647"/>
          </a:xfrm>
        </p:spPr>
        <p:txBody>
          <a:bodyPr/>
          <a:lstStyle/>
          <a:p>
            <a:r>
              <a:rPr lang="en-US" b="1" dirty="0"/>
              <a:t>What will you learn?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2133" y="6169502"/>
            <a:ext cx="83275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666666"/>
                </a:solidFill>
                <a:latin typeface="OpenSans-Regular"/>
              </a:rPr>
              <a:t>Source: </a:t>
            </a:r>
            <a:r>
              <a:rPr lang="en-US" sz="1200" i="1" dirty="0">
                <a:solidFill>
                  <a:srgbClr val="666666"/>
                </a:solidFill>
                <a:latin typeface="OpenSans-Regular"/>
              </a:rPr>
              <a:t>Background sound- Beyond dreams by Scott Homes, Licensed for commercial use under Creative Commons</a:t>
            </a:r>
            <a:endParaRPr lang="en-IN" sz="1200" i="1" dirty="0"/>
          </a:p>
        </p:txBody>
      </p:sp>
      <p:grpSp>
        <p:nvGrpSpPr>
          <p:cNvPr id="24" name="Group 23"/>
          <p:cNvGrpSpPr/>
          <p:nvPr/>
        </p:nvGrpSpPr>
        <p:grpSpPr>
          <a:xfrm>
            <a:off x="473044" y="2408015"/>
            <a:ext cx="11201194" cy="510751"/>
            <a:chOff x="473044" y="5595359"/>
            <a:chExt cx="11201194" cy="510751"/>
          </a:xfrm>
        </p:grpSpPr>
        <p:sp>
          <p:nvSpPr>
            <p:cNvPr id="51" name="Rectangle 50"/>
            <p:cNvSpPr/>
            <p:nvPr/>
          </p:nvSpPr>
          <p:spPr>
            <a:xfrm>
              <a:off x="1261544" y="5691365"/>
              <a:ext cx="10412694" cy="36249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300" b="1"/>
                <a:t>Reading Material 2 and Topic-end Assessment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904"/>
            <a:stretch/>
          </p:blipFill>
          <p:spPr>
            <a:xfrm>
              <a:off x="473044" y="5595359"/>
              <a:ext cx="593240" cy="51075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13" name="Rectangle 12"/>
          <p:cNvSpPr/>
          <p:nvPr/>
        </p:nvSpPr>
        <p:spPr>
          <a:xfrm>
            <a:off x="602853" y="913475"/>
            <a:ext cx="111667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/>
              <a:t>In this topic, you will learn about Navigating the Digital Workspace with the help of the following Micro Learning Units (MLUs):</a:t>
            </a:r>
          </a:p>
        </p:txBody>
      </p:sp>
    </p:spTree>
    <p:extLst>
      <p:ext uri="{BB962C8B-B14F-4D97-AF65-F5344CB8AC3E}">
        <p14:creationId xmlns:p14="http://schemas.microsoft.com/office/powerpoint/2010/main" val="239348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0"/>
    </mc:Choice>
    <mc:Fallback xmlns="">
      <p:transition spd="slow" advTm="4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2AC2D-9DAA-4185-BBE7-1AB599704722}"/>
              </a:ext>
            </a:extLst>
          </p:cNvPr>
          <p:cNvSpPr/>
          <p:nvPr/>
        </p:nvSpPr>
        <p:spPr>
          <a:xfrm>
            <a:off x="3930978" y="5293360"/>
            <a:ext cx="1480007" cy="1112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FFE99-E71C-4B25-90D0-4200BCB40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892" y="5356546"/>
            <a:ext cx="986147" cy="98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80193"/>
      </p:ext>
    </p:extLst>
  </p:cSld>
  <p:clrMapOvr>
    <a:masterClrMapping/>
  </p:clrMapOvr>
</p:sld>
</file>

<file path=ppt/theme/theme1.xml><?xml version="1.0" encoding="utf-8"?>
<a:theme xmlns:a="http://schemas.openxmlformats.org/drawingml/2006/main" name="Corp PPT Template 2016_16x9_Co-Branding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Presentation to Hon. Gov. of Maharashtra - 27th Sep 2018 SG.pptx [Read-Only]" id="{001F0D8E-DBD9-414A-AFAE-F0440EA5DC60}" vid="{1D38121C-6613-42BF-B727-FCD05E473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175</Words>
  <Application>Microsoft Office PowerPoint</Application>
  <PresentationFormat>Widescreen</PresentationFormat>
  <Paragraphs>23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Corbel</vt:lpstr>
      <vt:lpstr>Courier New</vt:lpstr>
      <vt:lpstr>Myriad Pro</vt:lpstr>
      <vt:lpstr>OpenSans-Regular</vt:lpstr>
      <vt:lpstr>Rockwell</vt:lpstr>
      <vt:lpstr>Trebuchet MS</vt:lpstr>
      <vt:lpstr>Wingdings</vt:lpstr>
      <vt:lpstr>Corp PPT Template 2016_16x9_Co-Branding</vt:lpstr>
      <vt:lpstr>&lt; Topic Number and Name &gt;</vt:lpstr>
      <vt:lpstr>What will you learn?</vt:lpstr>
      <vt:lpstr>What will you learn?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Charu Babbar</dc:creator>
  <cp:lastModifiedBy>Tata Strive</cp:lastModifiedBy>
  <cp:revision>113</cp:revision>
  <dcterms:created xsi:type="dcterms:W3CDTF">2020-05-28T04:43:52Z</dcterms:created>
  <dcterms:modified xsi:type="dcterms:W3CDTF">2026-01-14T10:08:22Z</dcterms:modified>
</cp:coreProperties>
</file>